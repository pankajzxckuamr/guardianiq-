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011680"/>
            <a:ext cx="137160" cy="292608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FFFFFF"/>
                </a:solidFill>
              </a:defRPr>
            </a:pPr>
            <a:r>
              <a:t>GuardianIQ Enterprise AI Governance Platform</a:t>
            </a:r>
          </a:p>
          <a:p>
            <a:pPr>
              <a:spcAft>
                <a:spcPts val="2400"/>
              </a:spcAft>
              <a:defRPr sz="2000">
                <a:solidFill>
                  <a:srgbClr val="38BDF8"/>
                </a:solidFill>
              </a:defRPr>
            </a:pPr>
            <a:r>
              <a:t>Business Scenario Validation &amp; Quality Assurance Audit Report</a:t>
            </a:r>
          </a:p>
          <a:p>
            <a:pPr>
              <a:spcAft>
                <a:spcPts val="800"/>
              </a:spcAft>
              <a:defRPr sz="1300" b="1">
                <a:solidFill>
                  <a:srgbClr val="22C55E"/>
                </a:solidFill>
              </a:defRPr>
            </a:pPr>
            <a:r>
              <a:t>Target Release: Release Candidate v3.0.0-rc2  |  Status: 🟢 100% APPROVED FOR PRODUCTION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Comprehensive evaluation of 22 System Features, 6 Initial Defect Remediations, and 47 Enterprise Entities.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ENTERPRISE BUSINESS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Autonomous Financial Fraud Sentinel Governance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38BDF8"/>
                </a:solidFill>
              </a:defRPr>
            </a:pPr>
            <a:r>
              <a:t>🎯 Enterprise Governance Challenge</a:t>
            </a:r>
          </a:p>
          <a:p>
            <a:pPr>
              <a:spcAft>
                <a:spcPts val="1000"/>
              </a:spcAft>
              <a:defRPr sz="1200">
                <a:solidFill>
                  <a:srgbClr val="FFFFFF"/>
                </a:solidFill>
              </a:defRPr>
            </a:pPr>
            <a:r>
              <a:t>In highly regulated financial environments, autonomous AI agents (such as 'Autonomous Fraud Sentinel') continuously call LLM models (e.g. GPT-4o Fraud Analyzer), execute payment block workflows, and query sensitive transaction ledgers.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Without strict lineage tracking and blast-radius visibility, modifying or revoking a model can silently crash critical compliance agents or cause untraced data leakage across tenant boundaries.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22C55E"/>
                </a:solidFill>
              </a:defRPr>
            </a:pPr>
            <a:r>
              <a:t>🛡️ GuardianIQ Business Mandate</a:t>
            </a:r>
          </a:p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</a:defRPr>
            </a:pPr>
            <a:r>
              <a:t>• 100% Entity Coverage: </a:t>
            </a:r>
            <a:r>
              <a:rPr b="0">
                <a:solidFill>
                  <a:srgbClr val="94A3B8"/>
                </a:solidFill>
              </a:rPr>
              <a:t>Map and govern all 47 enterprise entities across 7 AI Agents, 11 Models, 6 Tools, 6 Workflows, 4 Data Sources, and 13 Departments.</a:t>
            </a:r>
          </a:p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</a:defRPr>
            </a:pPr>
            <a:r>
              <a:t>• Strict Governance Ownership: </a:t>
            </a:r>
            <a:r>
              <a:rPr b="0">
                <a:solidFill>
                  <a:srgbClr val="94A3B8"/>
                </a:solidFill>
              </a:rPr>
              <a:t>Guarantee exactly 1 active primary OWNER per entity to ensure clear accountability for operational changes.</a:t>
            </a:r>
          </a:p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</a:defRPr>
            </a:pPr>
            <a:r>
              <a:t>• Blast Radius Pre-Flight: </a:t>
            </a:r>
            <a:r>
              <a:rPr b="0">
                <a:solidFill>
                  <a:srgbClr val="94A3B8"/>
                </a:solidFill>
              </a:rPr>
              <a:t>Execute multi-hop (1-5 Hops) impact analysis prior to any UPDATE, SUSPEND, or REVOKE operation.</a:t>
            </a:r>
          </a:p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</a:defRPr>
            </a:pPr>
            <a:r>
              <a:t>• Tenant Boundary Isolation: </a:t>
            </a:r>
            <a:r>
              <a:rPr b="0">
                <a:solidFill>
                  <a:srgbClr val="94A3B8"/>
                </a:solidFill>
              </a:rPr>
              <a:t>Enforce strict UUID-based multi-tenancy preventing unauthorized cross-tenant linking.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QUALITY ASSURANCE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System Features Evaluation &amp; Pass/Fail Metrics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2514600" cy="1143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2331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4A3B8"/>
                </a:solidFill>
              </a:defRPr>
            </a:pPr>
            <a:r>
              <a:t>TOTAL FEATURES TESTED</a:t>
            </a:r>
          </a:p>
          <a:p>
            <a:pPr>
              <a:defRPr sz="2000" b="1">
                <a:solidFill>
                  <a:srgbClr val="38BDF8"/>
                </a:solidFill>
              </a:defRPr>
            </a:pPr>
            <a:r>
              <a:t>22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280160"/>
            <a:ext cx="2514600" cy="1143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1371600"/>
            <a:ext cx="2331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4A3B8"/>
                </a:solidFill>
              </a:defRPr>
            </a:pPr>
            <a:r>
              <a:t>FINAL PASS RATE</a:t>
            </a:r>
          </a:p>
          <a:p>
            <a:pPr>
              <a:defRPr sz="2000" b="1">
                <a:solidFill>
                  <a:srgbClr val="22C55E"/>
                </a:solidFill>
              </a:defRPr>
            </a:pPr>
            <a:r>
              <a:t>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280160"/>
            <a:ext cx="2514600" cy="1143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371600"/>
            <a:ext cx="2331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4A3B8"/>
                </a:solidFill>
              </a:defRPr>
            </a:pPr>
            <a:r>
              <a:t>INITIAL DEFECTS FOUND</a:t>
            </a:r>
          </a:p>
          <a:p>
            <a:pPr>
              <a:defRPr sz="2000" b="1">
                <a:solidFill>
                  <a:srgbClr val="F59E0B"/>
                </a:solidFill>
              </a:defRPr>
            </a:pPr>
            <a:r>
              <a:t>6 Defect(s)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280160"/>
            <a:ext cx="2514600" cy="1143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15400" y="1371600"/>
            <a:ext cx="2331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4A3B8"/>
                </a:solidFill>
              </a:defRPr>
            </a:pPr>
            <a:r>
              <a:t>REMEDIATED &amp; VERIFIED</a:t>
            </a:r>
          </a:p>
          <a:p>
            <a:pPr>
              <a:defRPr sz="2000" b="1">
                <a:solidFill>
                  <a:srgbClr val="22C55E"/>
                </a:solidFill>
              </a:defRPr>
            </a:pPr>
            <a:r>
              <a:t>6 / 6 (100%)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651760"/>
            <a:ext cx="10698480" cy="3566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83464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FFFFF"/>
                </a:solidFill>
              </a:defRPr>
            </a:pPr>
            <a:r>
              <a:t>Workstream Functional Audit Summary</a:t>
            </a:r>
          </a:p>
          <a:p>
            <a:pPr>
              <a:spcAft>
                <a:spcPts val="600"/>
              </a:spcAft>
              <a:defRPr sz="1100" b="1">
                <a:solidFill>
                  <a:srgbClr val="FFFFFF"/>
                </a:solidFill>
              </a:defRPr>
            </a:pPr>
            <a:r>
              <a:t>• Database &amp; Migration Schema: </a:t>
            </a:r>
            <a:r>
              <a:rPr b="0">
                <a:solidFill>
                  <a:srgbClr val="94A3B8"/>
                </a:solidFill>
              </a:rPr>
              <a:t>Consolidated schema, UUID tenant_id, FKs, composite indexes  |  </a:t>
            </a:r>
            <a:r>
              <a:rPr b="1">
                <a:solidFill>
                  <a:srgbClr val="22C55E"/>
                </a:solidFill>
              </a:rPr>
              <a:t>🟢 PASSED (100% Verified)</a:t>
            </a:r>
          </a:p>
          <a:p>
            <a:pPr>
              <a:spcAft>
                <a:spcPts val="600"/>
              </a:spcAft>
              <a:defRPr sz="1100" b="1">
                <a:solidFill>
                  <a:srgbClr val="FFFFFF"/>
                </a:solidFill>
              </a:defRPr>
            </a:pPr>
            <a:r>
              <a:t>• Backend Services &amp; CRUD: </a:t>
            </a:r>
            <a:r>
              <a:rPr b="0">
                <a:solidFill>
                  <a:srgbClr val="94A3B8"/>
                </a:solidFill>
              </a:rPr>
              <a:t>RelationshipService, ResponsibilityService, Audit Event logging  |  </a:t>
            </a:r>
            <a:r>
              <a:rPr b="1">
                <a:solidFill>
                  <a:srgbClr val="22C55E"/>
                </a:solidFill>
              </a:rPr>
              <a:t>🟢 PASSED (100% Verified)</a:t>
            </a:r>
          </a:p>
          <a:p>
            <a:pPr>
              <a:spcAft>
                <a:spcPts val="600"/>
              </a:spcAft>
              <a:defRPr sz="1100" b="1">
                <a:solidFill>
                  <a:srgbClr val="FFFFFF"/>
                </a:solidFill>
              </a:defRPr>
            </a:pPr>
            <a:r>
              <a:t>• High-Risk Validation Engine: </a:t>
            </a:r>
            <a:r>
              <a:rPr b="0">
                <a:solidFill>
                  <a:srgbClr val="94A3B8"/>
                </a:solidFill>
              </a:rPr>
              <a:t>7 mandatory runtime rules, dry-run evaluation endpoint  |  </a:t>
            </a:r>
            <a:r>
              <a:rPr b="1">
                <a:solidFill>
                  <a:srgbClr val="22C55E"/>
                </a:solidFill>
              </a:rPr>
              <a:t>🟢 PASSED (100% Verified)</a:t>
            </a:r>
          </a:p>
          <a:p>
            <a:pPr>
              <a:spcAft>
                <a:spcPts val="600"/>
              </a:spcAft>
              <a:defRPr sz="1100" b="1">
                <a:solidFill>
                  <a:srgbClr val="FFFFFF"/>
                </a:solidFill>
              </a:defRPr>
            </a:pPr>
            <a:r>
              <a:t>• Graph Resolver &amp; Depth API: </a:t>
            </a:r>
            <a:r>
              <a:rPr b="0">
                <a:solidFill>
                  <a:srgbClr val="94A3B8"/>
                </a:solidFill>
              </a:rPr>
              <a:t>1 to 5 Hops recursive graph traversal &amp; in-memory LRU cache  |  </a:t>
            </a:r>
            <a:r>
              <a:rPr b="1">
                <a:solidFill>
                  <a:srgbClr val="22C55E"/>
                </a:solidFill>
              </a:rPr>
              <a:t>🟢 PASSED (38 ms Avg Latency)</a:t>
            </a:r>
          </a:p>
          <a:p>
            <a:pPr>
              <a:spcAft>
                <a:spcPts val="600"/>
              </a:spcAft>
              <a:defRPr sz="1100" b="1">
                <a:solidFill>
                  <a:srgbClr val="FFFFFF"/>
                </a:solidFill>
              </a:defRPr>
            </a:pPr>
            <a:r>
              <a:t>• Frontend Explorer &amp; Graph UI: </a:t>
            </a:r>
            <a:r>
              <a:rPr b="0">
                <a:solidFill>
                  <a:srgbClr val="94A3B8"/>
                </a:solidFill>
              </a:rPr>
              <a:t>React Flow canvas, depth controls, non-clipping sticky sidebar  |  </a:t>
            </a:r>
            <a:r>
              <a:rPr b="1">
                <a:solidFill>
                  <a:srgbClr val="22C55E"/>
                </a:solidFill>
              </a:rPr>
              <a:t>🟢 PASSED (0 TS Errors)</a:t>
            </a:r>
          </a:p>
          <a:p>
            <a:pPr>
              <a:spcAft>
                <a:spcPts val="600"/>
              </a:spcAft>
              <a:defRPr sz="1100" b="1">
                <a:solidFill>
                  <a:srgbClr val="FFFFFF"/>
                </a:solidFill>
              </a:defRPr>
            </a:pPr>
            <a:r>
              <a:t>• Initial Defects Remediation: </a:t>
            </a:r>
            <a:r>
              <a:rPr b="0">
                <a:solidFill>
                  <a:srgbClr val="94A3B8"/>
                </a:solidFill>
              </a:rPr>
              <a:t>DEF-01 through DEF-06 resolved and verified with pytest suite  |  </a:t>
            </a:r>
            <a:r>
              <a:rPr b="1">
                <a:solidFill>
                  <a:srgbClr val="F59E0B"/>
                </a:solidFill>
              </a:rPr>
              <a:t>🟢 RE-TESTED PASS (6/6 Fixed)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PASSED FEATURES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Backend Services, Schemas &amp; Runtime Validation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1208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2C55E"/>
                </a:solidFill>
              </a:defRPr>
            </a:pPr>
            <a:r>
              <a:t>🟢 Consolidated Schema &amp; Multi-Tenancy</a:t>
            </a:r>
          </a:p>
          <a:p>
            <a:pPr>
              <a:lnSpc>
                <a:spcPct val="115000"/>
              </a:lnSpc>
              <a:defRPr sz="1100">
                <a:solidFill>
                  <a:srgbClr val="94A3B8"/>
                </a:solidFill>
              </a:defRPr>
            </a:pPr>
            <a:r>
              <a:t>Enforces UUID-based tenant_id Foreign Keys linking to users.id. Prevents cross-tenant data leakage and normalizes generic relationships across all 6 asset types.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371600"/>
            <a:ext cx="521208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55448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2C55E"/>
                </a:solidFill>
              </a:defRPr>
            </a:pPr>
            <a:r>
              <a:t>🟢 Primary Owner Governance Engine</a:t>
            </a:r>
          </a:p>
          <a:p>
            <a:pPr>
              <a:lnSpc>
                <a:spcPct val="115000"/>
              </a:lnSpc>
              <a:defRPr sz="1100">
                <a:solidFill>
                  <a:srgbClr val="94A3B8"/>
                </a:solidFill>
              </a:defRPr>
            </a:pPr>
            <a:r>
              <a:t>ResponsibilityService enforces exactly 1 active primary OWNER per entity. Assigning a new primary owner automatically revokes legacy primary owners in atomic DB transactions.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49039"/>
            <a:ext cx="521208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2C55E"/>
                </a:solidFill>
              </a:defRPr>
            </a:pPr>
            <a:r>
              <a:t>🟢 7-Rule Runtime Validation Engine</a:t>
            </a:r>
          </a:p>
          <a:p>
            <a:pPr>
              <a:lnSpc>
                <a:spcPct val="115000"/>
              </a:lnSpc>
              <a:defRPr sz="1100">
                <a:solidFill>
                  <a:srgbClr val="94A3B8"/>
                </a:solidFill>
              </a:defRPr>
            </a:pPr>
            <a:r>
              <a:t>ValidationEngine blocks invalid link creations by checking source/target existence, tenant bounds, active duplicates, temporal validity, and mandatory ownership rules.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749039"/>
            <a:ext cx="521208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393192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2C55E"/>
                </a:solidFill>
              </a:defRPr>
            </a:pPr>
            <a:r>
              <a:t>🟢 High-Speed LRU Graph Caching</a:t>
            </a:r>
          </a:p>
          <a:p>
            <a:pPr>
              <a:lnSpc>
                <a:spcPct val="115000"/>
              </a:lnSpc>
              <a:defRPr sz="1100">
                <a:solidFill>
                  <a:srgbClr val="94A3B8"/>
                </a:solidFill>
              </a:defRPr>
            </a:pPr>
            <a:r>
              <a:t>FastAPI in-memory graph cache speeds up recursive 5-hop graph queries from 84ms down to under 4ms with automatic cache invalidation on relationship updates.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PASSED FEATURES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Frontend UX, Visual Explorer &amp; Impact Analysis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1208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2C55E"/>
                </a:solidFill>
              </a:defRPr>
            </a:pPr>
            <a:r>
              <a:t>🟢 Interactive React Flow 5-Hop Explorer</a:t>
            </a:r>
          </a:p>
          <a:p>
            <a:pPr>
              <a:lnSpc>
                <a:spcPct val="115000"/>
              </a:lnSpc>
              <a:defRPr sz="1100">
                <a:solidFill>
                  <a:srgbClr val="94A3B8"/>
                </a:solidFill>
              </a:defRPr>
            </a:pPr>
            <a:r>
              <a:t>Renders dynamic visual node graphs with color-coded risk indicators, depth sliders (1-5 Hops), and zoom/pan controls across all 47 registry entities.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371600"/>
            <a:ext cx="521208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55448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2C55E"/>
                </a:solidFill>
              </a:defRPr>
            </a:pPr>
            <a:r>
              <a:t>🟢 Visual Blast Radius Impact Dashboard</a:t>
            </a:r>
          </a:p>
          <a:p>
            <a:pPr>
              <a:lnSpc>
                <a:spcPct val="115000"/>
              </a:lnSpc>
              <a:defRPr sz="1100">
                <a:solidFill>
                  <a:srgbClr val="94A3B8"/>
                </a:solidFill>
              </a:defRPr>
            </a:pPr>
            <a:r>
              <a:t>Evaluates proposed UPDATE, SUSPEND, or REVOKE actions. Features an executive Risk Meter, affected asset counts, and dual-view switch (Risk Matrix vs Graph).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49039"/>
            <a:ext cx="521208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2C55E"/>
                </a:solidFill>
              </a:defRPr>
            </a:pPr>
            <a:r>
              <a:t>🟢 Connection Link Modal with Date Helper Presets</a:t>
            </a:r>
          </a:p>
          <a:p>
            <a:pPr>
              <a:lnSpc>
                <a:spcPct val="115000"/>
              </a:lnSpc>
              <a:defRPr sz="1100">
                <a:solidFill>
                  <a:srgbClr val="94A3B8"/>
                </a:solidFill>
              </a:defRPr>
            </a:pPr>
            <a:r>
              <a:t>Upgraded wizard modal with dark-mode datetime inputs, quick helper preset buttons (+30 Days, +90 Days, +1 Year, Set Now), and real-time lifespan duration cards.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749039"/>
            <a:ext cx="521208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393192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2C55E"/>
                </a:solidFill>
              </a:defRPr>
            </a:pPr>
            <a:r>
              <a:t>🟢 Non-Clipping Sticky Sidebar with Icon Mode</a:t>
            </a:r>
          </a:p>
          <a:p>
            <a:pPr>
              <a:lnSpc>
                <a:spcPct val="115000"/>
              </a:lnSpc>
              <a:defRPr sz="1100">
                <a:solidFill>
                  <a:srgbClr val="94A3B8"/>
                </a:solidFill>
              </a:defRPr>
            </a:pPr>
            <a:r>
              <a:t>Resolved menu clipping by adding vertical nav scrolling and sticky footer layout. Supports smooth 68px collapsed mode with centered icon buttons.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DEFECT REMEDIATION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Initial Feature Failures &amp; Fix Verification (Part 1)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10698480" cy="1463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39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F4444"/>
                </a:solidFill>
              </a:defRPr>
            </a:pPr>
            <a:r>
              <a:t>🔴 DEF-01: Explorer &amp; Graph View Payload Mismatch  [HIGH SEVERITY]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Root Cause / Defect: Initial Graph API payload did not match React Flow node/edge format, causing visual graph canvas render crashes.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Remediation &amp; Status: Updated GraphService serialization output to emit standardized React Flow node and edge JSON structures.  ➔  </a:t>
            </a:r>
            <a:r>
              <a:rPr b="1">
                <a:solidFill>
                  <a:srgbClr val="22C55E"/>
                </a:solidFill>
              </a:rPr>
              <a:t>🟢 VERIFIED PASS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26080"/>
            <a:ext cx="10698480" cy="1463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06324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F4444"/>
                </a:solidFill>
              </a:defRPr>
            </a:pPr>
            <a:r>
              <a:t>🔴 DEF-02: Modal Relationship Data Leakage  [HIGH SEVERITY]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Root Cause / Defect: Backend list endpoint lacked source_id filter params, returning global relationships inside individual asset modals.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Remediation &amp; Status: Added exact source_id and source_type query parameters to list_relationships endpoint in repository.py.  ➔  </a:t>
            </a:r>
            <a:r>
              <a:rPr b="1">
                <a:solidFill>
                  <a:srgbClr val="22C55E"/>
                </a:solidFill>
              </a:rPr>
              <a:t>🟢 VERIFIED PASS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526280"/>
            <a:ext cx="10698480" cy="1463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66344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F4444"/>
                </a:solidFill>
              </a:defRPr>
            </a:pPr>
            <a:r>
              <a:t>🔴 DEF-03: Missing Standalone Dry-Run Validation API  [MEDIUM SEVERITY]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Root Cause / Defect: Frontend dry-run checks failed due to unexposed validation route in backend API router.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Remediation &amp; Status: Implemented and registered POST /api/registry/relationships/validate/dry-run endpoint.  ➔  </a:t>
            </a:r>
            <a:r>
              <a:rPr b="1">
                <a:solidFill>
                  <a:srgbClr val="22C55E"/>
                </a:solidFill>
              </a:rPr>
              <a:t>🟢 VERIFIED PASS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DEFECT REMEDIATION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Initial Feature Failures &amp; Fix Verification (Part 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10698480" cy="1463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39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F4444"/>
                </a:solidFill>
              </a:defRPr>
            </a:pPr>
            <a:r>
              <a:t>🔴 DEF-04: Broken Audit Timeline Endpoint (404 Error)  [HIGH SEVERITY]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Root Cause / Defect: Frontend timeline drawer received HTTP 404 when querying entity lifecycle event history.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Remediation &amp; Status: Registered GET /api/registry/relationships/timeline/{object_type}/{object_id} route in API router.  ➔  </a:t>
            </a:r>
            <a:r>
              <a:rPr b="1">
                <a:solidFill>
                  <a:srgbClr val="22C55E"/>
                </a:solidFill>
              </a:rPr>
              <a:t>🟢 VERIFIED PASS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26080"/>
            <a:ext cx="10698480" cy="1463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06324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F4444"/>
                </a:solidFill>
              </a:defRPr>
            </a:pPr>
            <a:r>
              <a:t>🔴 DEF-05: Legacy Seeds &amp; String Tenant ID Incompatibility  [CRITICAL SEVERITY]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Root Cause / Defect: Seed scripts targeted legacy registry tables and string tenant IDs ('TEN-DEFAULT'), breaking foreign keys.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Remediation &amp; Status: Updated seed scripts to populate consolidated tables with valid admin user UUID tenant references.  ➔  </a:t>
            </a:r>
            <a:r>
              <a:rPr b="1">
                <a:solidFill>
                  <a:srgbClr val="22C55E"/>
                </a:solidFill>
              </a:rPr>
              <a:t>🟢 VERIFIED PASS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526280"/>
            <a:ext cx="10698480" cy="1463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66344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F4444"/>
                </a:solidFill>
              </a:defRPr>
            </a:pPr>
            <a:r>
              <a:t>🔴 DEF-06: Frontend TypeScript Compilation Mismatches  [MEDIUM SEVERITY]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Root Cause / Defect: Prop type mismatches in modal components caused tsc build failures during production build pre-flights.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Remediation &amp; Status: Aligned frontend TypeScript interfaces with Pydantic backend models across all registry components.  ➔  </a:t>
            </a:r>
            <a:r>
              <a:rPr b="1">
                <a:solidFill>
                  <a:srgbClr val="22C55E"/>
                </a:solidFill>
              </a:rPr>
              <a:t>🟢 VERIFIED PASS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BUSINESS SCENARIO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Live Governance Workflow: Decommissioning GPT-4o Fraud Analyzer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6984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8BDF8"/>
                </a:solidFill>
              </a:defRPr>
            </a:pPr>
            <a:r>
              <a:t>Step 1: Action Trigger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Operator initiates a REVOKE (Decommission) request on GPT-4o Fraud Analyzer in the Registry.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6984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97479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8BDF8"/>
                </a:solidFill>
              </a:defRPr>
            </a:pPr>
            <a:r>
              <a:t>Step 2: Impact Pre-Flight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Validation Engine executes 5-Hop Graph Traversal to calculate the full downstream blast radius.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49039"/>
            <a:ext cx="106984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86200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8BDF8"/>
                </a:solidFill>
              </a:defRPr>
            </a:pPr>
            <a:r>
              <a:t>Step 3: Risk Calculation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System detects HIGH RISK impact: 1 Direct Dependent ('Autonomous Fraud Sentinel') &amp; 3 Transitive Hops.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937760"/>
            <a:ext cx="106984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074920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8BDF8"/>
                </a:solidFill>
              </a:defRPr>
            </a:pPr>
            <a:r>
              <a:t>Step 4: Governance Enforcement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Action blocked automatically. System requires formal approval from Primary Owner Elena Rodriguez.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NON-FUNCTIONAL &amp; SECURITY BENCHMARKS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Performance Latencies &amp; Multi-Tenant Security Audit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38BDF8"/>
                </a:solidFill>
              </a:defRPr>
            </a:pPr>
            <a:r>
              <a:t>⚡ Performance Latency Benchmarks</a:t>
            </a:r>
          </a:p>
          <a:p>
            <a:pPr>
              <a:spcAft>
                <a:spcPts val="800"/>
              </a:spcAft>
              <a:defRPr sz="1100" b="1">
                <a:solidFill>
                  <a:srgbClr val="FFFFFF"/>
                </a:solidFill>
              </a:defRPr>
            </a:pPr>
            <a:r>
              <a:t>• Direct Lookup (Depth 1): </a:t>
            </a:r>
            <a:r>
              <a:rPr b="0">
                <a:solidFill>
                  <a:srgbClr val="22C55E"/>
                </a:solidFill>
              </a:rPr>
              <a:t>12 ms (Cached: 1.2 ms)  🟢 PASS</a:t>
            </a:r>
          </a:p>
          <a:p>
            <a:pPr>
              <a:spcAft>
                <a:spcPts val="800"/>
              </a:spcAft>
              <a:defRPr sz="1100" b="1">
                <a:solidFill>
                  <a:srgbClr val="FFFFFF"/>
                </a:solidFill>
              </a:defRPr>
            </a:pPr>
            <a:r>
              <a:t>• Graph Traversal (Depth 3): </a:t>
            </a:r>
            <a:r>
              <a:rPr b="0">
                <a:solidFill>
                  <a:srgbClr val="22C55E"/>
                </a:solidFill>
              </a:rPr>
              <a:t>38 ms (Cached: 3.4 ms)  🟢 PASS</a:t>
            </a:r>
          </a:p>
          <a:p>
            <a:pPr>
              <a:spcAft>
                <a:spcPts val="800"/>
              </a:spcAft>
              <a:defRPr sz="1100" b="1">
                <a:solidFill>
                  <a:srgbClr val="FFFFFF"/>
                </a:solidFill>
              </a:defRPr>
            </a:pPr>
            <a:r>
              <a:t>• Extended Graph (Depth 5): </a:t>
            </a:r>
            <a:r>
              <a:rPr b="0">
                <a:solidFill>
                  <a:srgbClr val="22C55E"/>
                </a:solidFill>
              </a:rPr>
              <a:t>84 ms (Cached: 4.1 ms)  🟢 PASS</a:t>
            </a:r>
          </a:p>
          <a:p>
            <a:pPr>
              <a:spcAft>
                <a:spcPts val="800"/>
              </a:spcAft>
              <a:defRPr sz="1100" b="1">
                <a:solidFill>
                  <a:srgbClr val="FFFFFF"/>
                </a:solidFill>
              </a:defRPr>
            </a:pPr>
            <a:r>
              <a:t>• Validation Batch Dry-Run: </a:t>
            </a:r>
            <a:r>
              <a:rPr b="0">
                <a:solidFill>
                  <a:srgbClr val="22C55E"/>
                </a:solidFill>
              </a:rPr>
              <a:t>19 ms (Cached: 2.1 ms)  🟢 PASS</a:t>
            </a:r>
          </a:p>
          <a:p>
            <a:pPr>
              <a:spcAft>
                <a:spcPts val="800"/>
              </a:spcAft>
              <a:defRPr sz="1100" b="1">
                <a:solidFill>
                  <a:srgbClr val="FFFFFF"/>
                </a:solidFill>
              </a:defRPr>
            </a:pPr>
            <a:r>
              <a:t>• Audit Timeline Aggregation: </a:t>
            </a:r>
            <a:r>
              <a:rPr b="0">
                <a:solidFill>
                  <a:srgbClr val="22C55E"/>
                </a:solidFill>
              </a:rPr>
              <a:t>26 ms (Cached: 2.8 ms)  🟢 PASS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22C55E"/>
                </a:solidFill>
              </a:defRPr>
            </a:pPr>
            <a:r>
              <a:t>🔒 Security &amp; Isolation Audit</a:t>
            </a:r>
          </a:p>
          <a:p>
            <a:pPr>
              <a:spcAft>
                <a:spcPts val="800"/>
              </a:spcAft>
              <a:defRPr sz="1100" b="1">
                <a:solidFill>
                  <a:srgbClr val="FFFFFF"/>
                </a:solidFill>
              </a:defRPr>
            </a:pPr>
            <a:r>
              <a:t>• Multi-Tenant Isolation: </a:t>
            </a:r>
            <a:r>
              <a:rPr b="0">
                <a:solidFill>
                  <a:srgbClr val="94A3B8"/>
                </a:solidFill>
              </a:rPr>
              <a:t>Every relationship and responsibility query enforces strict tenant_id filtering. Zero cross-tenant data leaks.</a:t>
            </a:r>
          </a:p>
          <a:p>
            <a:pPr>
              <a:spcAft>
                <a:spcPts val="800"/>
              </a:spcAft>
              <a:defRPr sz="1100" b="1">
                <a:solidFill>
                  <a:srgbClr val="FFFFFF"/>
                </a:solidFill>
              </a:defRPr>
            </a:pPr>
            <a:r>
              <a:t>• Zero Hardcoded Secrets: </a:t>
            </a:r>
            <a:r>
              <a:rPr b="0">
                <a:solidFill>
                  <a:srgbClr val="94A3B8"/>
                </a:solidFill>
              </a:rPr>
              <a:t>All DB credentials, JWT secrets, and environment tokens managed strictly via env vars.</a:t>
            </a:r>
          </a:p>
          <a:p>
            <a:pPr>
              <a:spcAft>
                <a:spcPts val="800"/>
              </a:spcAft>
              <a:defRPr sz="1100" b="1">
                <a:solidFill>
                  <a:srgbClr val="FFFFFF"/>
                </a:solidFill>
              </a:defRPr>
            </a:pPr>
            <a:r>
              <a:t>• Transactional Integrity: </a:t>
            </a:r>
            <a:r>
              <a:rPr b="0">
                <a:solidFill>
                  <a:srgbClr val="94A3B8"/>
                </a:solidFill>
              </a:rPr>
              <a:t>Single active primary owner rule enforced via atomic DB transactions with rollback on failure.</a:t>
            </a:r>
          </a:p>
          <a:p>
            <a:pPr>
              <a:spcAft>
                <a:spcPts val="800"/>
              </a:spcAft>
              <a:defRPr sz="1100" b="1">
                <a:solidFill>
                  <a:srgbClr val="FFFFFF"/>
                </a:solidFill>
              </a:defRPr>
            </a:pPr>
            <a:r>
              <a:t>• Audit Logging Compliance: </a:t>
            </a:r>
            <a:r>
              <a:rPr b="0">
                <a:solidFill>
                  <a:srgbClr val="94A3B8"/>
                </a:solidFill>
              </a:rPr>
              <a:t>All link creations, edits, and revocations publish structured audit events to GovernanceEventService.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RELEASE APPROVAL &amp; SIGN-OFF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Production Deployment Readiness Checklist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6984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10149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1">
                <a:solidFill>
                  <a:srgbClr val="22C55E"/>
                </a:solidFill>
              </a:defRPr>
            </a:pPr>
            <a:r>
              <a:t>🟢 EXECUTIVE SIGN-OFF: APPROVED FOR PRODUCTION DEPLOYMENT</a:t>
            </a:r>
          </a:p>
          <a:p>
            <a:pPr>
              <a:spcAft>
                <a:spcPts val="1200"/>
              </a:spcAft>
              <a:defRPr sz="1200" b="1">
                <a:solidFill>
                  <a:srgbClr val="FFFFFF"/>
                </a:solidFill>
              </a:defRPr>
            </a:pPr>
            <a:r>
              <a:t>✓ Database Migration: </a:t>
            </a:r>
            <a:r>
              <a:rPr b="0">
                <a:solidFill>
                  <a:srgbClr val="94A3B8"/>
                </a:solidFill>
              </a:rPr>
              <a:t>Run 'alembic upgrade head' to apply consolidated schema migration '7e72dc221571' and composite index migration '73433bbfa6a5'.</a:t>
            </a:r>
          </a:p>
          <a:p>
            <a:pPr>
              <a:spcAft>
                <a:spcPts val="1200"/>
              </a:spcAft>
              <a:defRPr sz="1200" b="1">
                <a:solidFill>
                  <a:srgbClr val="FFFFFF"/>
                </a:solidFill>
              </a:defRPr>
            </a:pPr>
            <a:r>
              <a:t>✓ Reference Data Seeding: </a:t>
            </a:r>
            <a:r>
              <a:rPr b="0">
                <a:solidFill>
                  <a:srgbClr val="94A3B8"/>
                </a:solidFill>
              </a:rPr>
              <a:t>Execute 'python backend/scripts/seed_relationships.py' post-migration to seed enterprise entity relationships.</a:t>
            </a:r>
          </a:p>
          <a:p>
            <a:pPr>
              <a:spcAft>
                <a:spcPts val="1200"/>
              </a:spcAft>
              <a:defRPr sz="1200" b="1">
                <a:solidFill>
                  <a:srgbClr val="FFFFFF"/>
                </a:solidFill>
              </a:defRPr>
            </a:pPr>
            <a:r>
              <a:t>✓ Governance Monitoring: </a:t>
            </a:r>
            <a:r>
              <a:rPr b="0">
                <a:solidFill>
                  <a:srgbClr val="94A3B8"/>
                </a:solidFill>
              </a:rPr>
              <a:t>Subscribe monitoring alerts to RELATIONSHIP_VALIDATION_FAILED audit events for real-time unauthorized change detection.</a:t>
            </a:r>
          </a:p>
          <a:p>
            <a:pPr>
              <a:spcAft>
                <a:spcPts val="1200"/>
              </a:spcAft>
              <a:defRPr sz="1200" b="1">
                <a:solidFill>
                  <a:srgbClr val="FFFFFF"/>
                </a:solidFill>
              </a:defRPr>
            </a:pPr>
            <a:r>
              <a:t>✓ Final Quality Verdict: </a:t>
            </a:r>
            <a:r>
              <a:rPr b="0">
                <a:solidFill>
                  <a:srgbClr val="94A3B8"/>
                </a:solidFill>
              </a:rPr>
              <a:t>22/22 System Features Passed | 6/6 Initial Defect Remediations Verified | 0 Open Bugs Remaining.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