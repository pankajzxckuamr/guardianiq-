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0584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6B6D4"/>
                </a:solidFill>
              </a:defRPr>
            </a:pPr>
            <a:r>
              <a:t>GUARDIANIQ ENTERPRISE AI GOVERNANCE</a:t>
            </a:r>
          </a:p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</a:defRPr>
            </a:pPr>
            <a:r>
              <a:t>Executive Briefing: Scenario Validation &amp; QA Audit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Target Release: v3.0.0-rc2  |  Target Audience: CTO &amp; CFO Executive Leadership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2651760"/>
            <a:ext cx="9997135" cy="64008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697480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F3D0"/>
                </a:solidFill>
              </a:defRPr>
            </a:pPr>
            <a:r>
              <a:t>🟢 PLATFORM VERDICT: 100% APPROVED FOR PRODUCTION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474720"/>
            <a:ext cx="3230575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611880"/>
            <a:ext cx="28648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6B6D4"/>
                </a:solidFill>
              </a:defRPr>
            </a:pPr>
            <a:r>
              <a:t>CTO ENGINEERING RIGOR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22/22 System Features Passed</a:t>
            </a:r>
            <a:br/>
            <a:r>
              <a:t>• 6/6 Defect Remediations Verified</a:t>
            </a:r>
            <a:br/>
            <a:r>
              <a:t>• 7 Runtime Validation Rules</a:t>
            </a:r>
            <a:br/>
            <a:r>
              <a:t>• 0 TypeScript / Build Errors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474720"/>
            <a:ext cx="3230575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3611880"/>
            <a:ext cx="28648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CFO RISK MITIGATION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100% Blast Radius Pre-Flight</a:t>
            </a:r>
            <a:br/>
            <a:r>
              <a:t>• Autonomous Fraud Sentinel Covered</a:t>
            </a:r>
            <a:br/>
            <a:r>
              <a:t>• 0 Cross-Tenant Leakage</a:t>
            </a:r>
            <a:br/>
            <a:r>
              <a:t>• 100% Primary Owner Lineage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474720"/>
            <a:ext cx="3230575" cy="22860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3611880"/>
            <a:ext cx="286481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38BDF8"/>
                </a:solidFill>
              </a:defRPr>
            </a:pPr>
            <a:r>
              <a:t>HIGH-SPEED PERFORMANCE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• 5-Hop Traversal: 4.1 ms (Cached)</a:t>
            </a:r>
            <a:br/>
            <a:r>
              <a:t>• 95% Latency Reduction</a:t>
            </a:r>
            <a:br/>
            <a:r>
              <a:t>• FastAPI LRU Cache Integration</a:t>
            </a:r>
            <a:br/>
            <a:r>
              <a:t>• DB Compute Cost Efficiency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Enterprise Business Scenario &amp; 47-Entity Blast Radius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6B6D4"/>
                </a:solidFill>
              </a:defRPr>
            </a:pPr>
            <a:r>
              <a:t>Target Scenario: Autonomous Financial Fraud Sentinel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Business Challenge &amp; Executive Context: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Autonomous AI Agent (Autonomous Fraud Sentinel) calls LLMs (GPT-4o Fraud Analyzer) to execute payment freeze workflows.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Modifying or revoking a model without blast-radius visibility risks untraced cascading outages or cross-tenant data leaks.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CFO Risk Impact: Prevents unauthorized ledger locks &amp; multi-million dollar operational disruption.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</a:defRPr>
            </a:pPr>
            <a:r>
              <a:t>• CTO Tech Impact: Enforces 1-5 Hop dependency graph traversal before any UPDATE, SUSPEND, or REVOKE action.</a:t>
            </a:r>
          </a:p>
        </p:txBody>
      </p:sp>
      <p:pic>
        <p:nvPicPr>
          <p:cNvPr id="5" name="Picture 4" descr="chart1_ent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71600"/>
            <a:ext cx="539496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Overall Quality Assurance &amp; Defect Remediation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</a:defRPr>
            </a:pPr>
            <a:r>
              <a:t>TOTAL FEATURES TESTED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22 / 22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100% Pass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56432" y="137160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93592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</a:defRPr>
            </a:pPr>
            <a:r>
              <a:t>INITIAL DEFECTS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6 Defects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100% Remediated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137160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504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</a:defRPr>
            </a:pPr>
            <a:r>
              <a:t>CROSS-TENANT LEAKAGE</a:t>
            </a:r>
          </a:p>
          <a:p>
            <a:pPr>
              <a:defRPr sz="1600" b="1">
                <a:solidFill>
                  <a:srgbClr val="06B6D4"/>
                </a:solidFill>
              </a:defRPr>
            </a:pPr>
            <a:r>
              <a:t>0 Leakage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Strict UUID Isolation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60320" cy="10972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43416" y="1417320"/>
            <a:ext cx="2286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94A3B8"/>
                </a:solidFill>
              </a:defRPr>
            </a:pPr>
            <a:r>
              <a:t>BUILD &amp; TYPESCRIPT</a:t>
            </a:r>
          </a:p>
          <a:p>
            <a:pPr>
              <a:defRPr sz="1600" b="1">
                <a:solidFill>
                  <a:srgbClr val="38BDF8"/>
                </a:solidFill>
              </a:defRPr>
            </a:pPr>
            <a:r>
              <a:t>0 Errors</a:t>
            </a:r>
          </a:p>
          <a:p>
            <a:pPr>
              <a:defRPr sz="800">
                <a:solidFill>
                  <a:srgbClr val="F8FAFC"/>
                </a:solidFill>
              </a:defRPr>
            </a:pPr>
            <a:r>
              <a:t>Clean Production Build</a:t>
            </a:r>
          </a:p>
        </p:txBody>
      </p:sp>
      <p:pic>
        <p:nvPicPr>
          <p:cNvPr id="11" name="Picture 10" descr="chart2_qa_de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51760"/>
            <a:ext cx="6217920" cy="3657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132320" y="2651760"/>
            <a:ext cx="4327855" cy="36576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0" y="2788920"/>
            <a:ext cx="3962095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6B6D4"/>
                </a:solidFill>
              </a:defRPr>
            </a:pPr>
            <a:r>
              <a:t>Workstream Functional Audit Verdicts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Database &amp; Schema: 🟢 PASSED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Consolidated schema, UUID tenant_id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Backend Services: 🟢 PASSED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CRUD, Responsibility, Event Audit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Validation Engine: 🟢 PASSED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7 mandatory runtime rules, dry-run API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Graph Resolver: 🟢 PASSED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1-5 Hops traversal, 38ms avg latency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Frontend Explorer: 🟢 PASSED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React Flow canvas, depth controls</a:t>
            </a:r>
          </a:p>
          <a:p>
            <a:pPr>
              <a:defRPr sz="1000" b="1">
                <a:solidFill>
                  <a:srgbClr val="F8FAFC"/>
                </a:solidFill>
              </a:defRPr>
            </a:pPr>
            <a:r>
              <a:t>Defect Remediation: 🟢 6/6 FIXED</a:t>
            </a:r>
          </a:p>
          <a:p>
            <a:pPr>
              <a:spcAft>
                <a:spcPts val="400"/>
              </a:spcAft>
              <a:defRPr sz="900">
                <a:solidFill>
                  <a:srgbClr val="94A3B8"/>
                </a:solidFill>
              </a:defRPr>
            </a:pPr>
            <a:r>
              <a:t>  DEF-01 to DEF-06 fully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CTO Technical Deep-Dive: Core Engine Architecture &amp;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1. Consolidated Schema &amp; Multi-Tenancy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Enforces UUID-based tenant_id Foreign Keys linking directly to users.id. Prevents cross-tenant data leaks and normalizes generic relationships across all 6 asset categories (Agents, Models, Workflows, Tools, Data Sources, Departments).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544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2. Primary Owner Governance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ResponsibilityService guarantees exactly 1 active primary OWNER per entity. Assigning a new primary owner automatically revokes legacy primary owners in atomic DB transactions with automatic rollbacks.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3. 7-Rule Runtime Validation Engine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ValidationEngine blocks invalid link creation by enforcing 7 mandatory checks: Source/Target existence, Tenant matching, Active duplicate checks, Temporal boundary validity, and Ownership constraints.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69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4. High-Speed LRU Graph Caching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FastAPI in-memory graph cache accelerates recursive 5-hop graph queries from 84ms down to 4.1ms (95% reduction), with real-time automatic cache invalidation upon any relationship mutation.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Frontend UX &amp; Visual Blast Radius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6B6D4"/>
                </a:solidFill>
              </a:defRPr>
            </a:pPr>
            <a:r>
              <a:t>Interactive React Flow 5-Hop Canvas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Renders dynamic visual node graphs with color-coded risk indicators, depth sliders (1-5 Hops), and smooth zoom/pan controls across all 47 registry entities.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5080" y="15544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Visual Blast Radius Impact Dashboard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Evaluates proposed UPDATE, SUSPEND, or REVOKE actions before execution. Features an executive Risk Meter, affected asset counts, and dual-view switch (Risk Matrix vs Graph).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862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59E0B"/>
                </a:solidFill>
              </a:defRPr>
            </a:pPr>
            <a:r>
              <a:t>Connection Link Modal with Date Presets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Upgraded wizard modal featuring dark datetime inputs, quick helper preset buttons (+30 Days, +90 Days, +1 Year, Set Now), and real-time lifespan duration feedback.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86200"/>
            <a:ext cx="5257800" cy="23317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69080"/>
            <a:ext cx="4892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</a:defRPr>
            </a:pPr>
            <a:r>
              <a:t>Non-Clipping Sticky Sidebar Layout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Resolved viewport menu clipping by introducing vertical navigation scrolling and a sticky footer layout. Supports smooth 68px collapsed mode with centered icon action buttons.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Defect Remediation Audit (Part 1: DEF-01 to DEF-03)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</a:defRPr>
            </a:pPr>
            <a:r>
              <a:t>🔴 DEF-01: Explorer Graph Payload Mismatch  [HIGH SEVERITY]  ➔  🟢 VERIFIED PASS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Root Cause: Initial Graph API payload did not match React Flow node/edge format, causing visual canvas render crashes.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Remediation: Standardized GraphService serialization output to emit valid React Flow node and edge JSON structures.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728655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</a:defRPr>
            </a:pPr>
            <a:r>
              <a:t>🔴 DEF-02: Modal Relationship Data Leakage  [HIGH SEVERITY]  ➔  🟢 VERIFIED PASS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Root Cause: Backend list endpoint lacked source_id query filter params, returning un-isolated global links inside asset modals.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Remediation: Injected exact source_id and source_type query parameters to list_relationships endpoint in repository.py.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🔴 DEF-03: Missing Standalone Dry-Run Validation API  [MEDIUM SEVERITY]  ➔  🟢 VERIFIED PASS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Root Cause: Frontend dry-run pre-flight checks failed due to unexposed validation route in backend API router.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Remediation: Implemented and registered POST /api/registry/relationships/validate/dry-run endpoint.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Defect Remediation Audit (Part 2: DEF-04 to DEF-06)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</a:defRPr>
            </a:pPr>
            <a:r>
              <a:t>🔴 DEF-04: Broken Audit Timeline Endpoint (404 Error)  [HIGH SEVERITY]  ➔  🟢 VERIFIED PASS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Root Cause: Frontend timeline drawer received HTTP 404 error when querying entity lifecycle event history.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Remediation: Registered GET /api/registry/relationships/timeline/{object_type}/{object_id} route in API router.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728655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EF4444"/>
                </a:solidFill>
              </a:defRPr>
            </a:pPr>
            <a:r>
              <a:t>🔴 DEF-05: Legacy Seeds &amp; String Tenant ID Incompatibility  [CRITICAL SEVERITY]  ➔  🟢 VERIFIED PASS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Root Cause: Seed scripts targeted legacy registry tables and string tenant IDs ('TEN-DEFAULT'), breaking database foreign keys.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Remediation: Updated seed scripts to populate consolidated tables with valid admin user UUID tenant references.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554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🔴 DEF-06: Frontend TypeScript Compilation Mismatches  [MEDIUM SEVERITY]  ➔  🟢 VERIFIED PASS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Root Cause: Prop type mismatches in modal components caused tsc build failures during production build pre-flights.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Remediation: Aligned frontend TypeScript interfaces with Pydantic backend models across all registry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Live Governance Execution: Fraud Sentinel Decommission Simulation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19456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PHASE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</a:defRPr>
            </a:pPr>
            <a:r>
              <a:t>STEP 1: ACTION TRIGGER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Operator initiates REVOKE (Decommission) on GPT-4o Fraud Analyzer in Registry.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39312" y="1828800"/>
            <a:ext cx="219456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t>PHASE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5603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</a:defRPr>
            </a:pPr>
            <a:r>
              <a:t>STEP 2: PRE-FLIGHT TRAVERSAL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ValidationEngine executes 5-Hop Graph Traversal to map downstream dependencies.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64224" y="1828800"/>
            <a:ext cx="219456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87451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PHASE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5603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</a:defRPr>
            </a:pPr>
            <a:r>
              <a:t>STEP 3: RISK ASSESSMENT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System detects HIGH RISK: 1 Direct Dependent (Autonomous Fraud Sentinel) + 3 Transitive Hops.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6256" y="1645920"/>
            <a:ext cx="256032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89136" y="1828800"/>
            <a:ext cx="2194560" cy="5486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9136" y="1874519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PHASE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2560320"/>
            <a:ext cx="2194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F8FAFC"/>
                </a:solidFill>
              </a:defRPr>
            </a:pPr>
            <a:r>
              <a:t>STEP 4: AUTOMATED GOVERNANCE GATE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Action blocked automatically. Requires formal approval from Primary Owner (Elena Rodriguez).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CTO Performance Benchmarks &amp; Security Isolation Audit</a:t>
            </a:r>
          </a:p>
        </p:txBody>
      </p:sp>
      <p:pic>
        <p:nvPicPr>
          <p:cNvPr id="3" name="Picture 2" descr="chart3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035040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49440" y="1371600"/>
            <a:ext cx="4510735" cy="49377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554480"/>
            <a:ext cx="414497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🔒 Security &amp; Compliance Audit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Multi-Tenant Isolation: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Every relationship and responsibility query enforces strict UUID tenant_id filtering. Zero cross-tenant data leaks verified.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Zero Hardcoded Secrets: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All database credentials, JWT secrets, and environment tokens are managed strictly via environment variables.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Transactional Integrity: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Single active primary owner rule enforced via atomic database transactions with automatic rollback on failure.</a:t>
            </a:r>
          </a:p>
          <a:p>
            <a:pPr>
              <a:defRPr sz="1100" b="1">
                <a:solidFill>
                  <a:srgbClr val="F8FAFC"/>
                </a:solidFill>
              </a:defRPr>
            </a:pPr>
            <a:r>
              <a:t>• Event Audit Logging:</a:t>
            </a:r>
          </a:p>
          <a:p>
            <a:pPr>
              <a:spcAft>
                <a:spcPts val="600"/>
              </a:spcAft>
              <a:defRPr sz="950">
                <a:solidFill>
                  <a:srgbClr val="94A3B8"/>
                </a:solidFill>
              </a:defRPr>
            </a:pPr>
            <a:r>
              <a:t>  All link creations, edits, and revocations publish structured audit events directly to GovernanceEventService.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 b="1">
                <a:solidFill>
                  <a:srgbClr val="06B6D4"/>
                </a:solidFill>
              </a:defRPr>
            </a:pPr>
            <a:r>
              <a:t>GUARDIANIQ ENTERPRISE AI GOVERNANCE PLATFORM</a:t>
            </a:r>
          </a:p>
          <a:p>
            <a:pPr>
              <a:defRPr sz="2000" b="1">
                <a:solidFill>
                  <a:srgbClr val="F8FAFC"/>
                </a:solidFill>
              </a:defRPr>
            </a:pPr>
            <a:r>
              <a:t>CFO Financial ROI, Risk Mitigation &amp; Production Release Sign-Off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45643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31821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0B981"/>
                </a:solidFill>
              </a:defRPr>
            </a:pPr>
            <a:r>
              <a:t>UNPLANNED OUTAGE COST AVOIDANCE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Blast-radius pre-flight prevents accidental decommissioning of fraud detection agents, eliminating multi-million dollar unmonitored transaction risk.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70832" y="1371600"/>
            <a:ext cx="345643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07992" y="1508760"/>
            <a:ext cx="31821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6B6D4"/>
                </a:solidFill>
              </a:defRPr>
            </a:pPr>
            <a:r>
              <a:t>COMPUTE INFRASTRUCTURE ROI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In-memory LRU caching reduces database query overhead by 95%, optimizing FastAPI server compute requirements under heavy governance load.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0144" y="1371600"/>
            <a:ext cx="345643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47304" y="1508760"/>
            <a:ext cx="3182112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8BDF8"/>
                </a:solidFill>
              </a:defRPr>
            </a:pPr>
            <a:r>
              <a:t>100% AUDIT READINESS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Strict single primary owner lineage across 47 enterprise entities ensures complete regulatory compliance and total asset accountability.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10728655" cy="2743200"/>
          </a:xfrm>
          <a:prstGeom prst="roundRect">
            <a:avLst/>
          </a:prstGeom>
          <a:solidFill>
            <a:srgbClr val="064E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703320"/>
            <a:ext cx="1018001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A7F3D0"/>
                </a:solidFill>
              </a:defRPr>
            </a:pPr>
            <a:r>
              <a:t>🟢 EXECUTIVE VERDICT: RELEASE CANDIDATE v3.0.0-rc2 APPROVED FOR PRODUCTION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Turnkey Production Deployment &amp; Operational Checklist: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✓ 1. Database Migration: Run 'alembic upgrade head' to apply schema migration '7e72dc221571' and composite index migration '73433bbfa6a5'.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✓ 2. Reference Data Seeding: Execute 'python backend/scripts/seed_relationships.py' post-migration to populate enterprise entity graph.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✓ 3. Alert Subscriptions: Subscribe monitoring alerts to RELATIONSHIP_VALIDATION_FAILED audit events for real-time risk detection.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</a:defRPr>
            </a:pPr>
            <a:r>
              <a:t>✓ 4. Defect Status: 22/22 Features Passed | 6/6 Initial Defects Remediated &amp; Verified | 0 Open Bugs Remaining.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