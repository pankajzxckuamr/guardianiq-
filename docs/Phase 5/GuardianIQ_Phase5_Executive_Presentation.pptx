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D9488"/>
                </a:solidFill>
              </a:defRPr>
            </a:pPr>
            <a:r>
              <a:t>PHASE 5 ENGINEERING DELIVERABLE &amp; DEMONSTRATION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GuardianIQ Policy &amp; Runtime ENFORCE Layer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Deterministic Multi-Layer Policy Hierarchy, Runtime Enforcement Gateway, Cryptographic TOCTOU Protection &amp; Non-Authoritative Simulator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Presenter: Aayush Kumar (Fullstack &amp; Systems Lead)  |  Engineering Team: Pankaj, Jitendra  |  Version: 1.0 (Production Verified)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GUARDIANIQ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Overview: Solving The AI Governance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3017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Challenge in Autonomous AI</a:t>
            </a:r>
          </a:p>
          <a:p>
            <a:pPr>
              <a:lnSpc>
                <a:spcPct val="125000"/>
              </a:lnSpc>
              <a:defRPr sz="1050">
                <a:solidFill>
                  <a:srgbClr val="334155"/>
                </a:solidFill>
              </a:defRPr>
            </a:pPr>
            <a:r>
              <a:t>• Unbounded Agent Autonomy: LLM agents calling tools and APIs without deterministic controls.</a:t>
            </a:r>
            <a:br/>
            <a:r>
              <a:t>• Sensitive Data Leakage: Raw PII/PHI sent to third-party model providers.</a:t>
            </a:r>
            <a:br/>
            <a:r>
              <a:t>• Time-of-Check Vulnerabilities (TOCTOU): Approved actions modified before target execution.</a:t>
            </a:r>
            <a:br/>
            <a:r>
              <a:t>• Disjointed Audit Lineage: Missing correlation across request, approval, and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554480"/>
            <a:ext cx="3017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GuardianIQ Solution (Phase 5)</a:t>
            </a:r>
          </a:p>
          <a:p>
            <a:pPr>
              <a:lnSpc>
                <a:spcPct val="125000"/>
              </a:lnSpc>
              <a:defRPr sz="1050">
                <a:solidFill>
                  <a:srgbClr val="334155"/>
                </a:solidFill>
              </a:defRPr>
            </a:pPr>
            <a:r>
              <a:t>• Deterministic Policy Engine: Safe AST condition evaluation without dynamic code execution.</a:t>
            </a:r>
            <a:br/>
            <a:r>
              <a:t>• Hard Boundary Guards: Autonomy limits, tool caps, data masking, and model restrictions.</a:t>
            </a:r>
            <a:br/>
            <a:r>
              <a:t>• Single-Use Cryptographic Tokens: SHA-256 context hashing preventing replay and tampering.</a:t>
            </a:r>
            <a:br/>
            <a:r>
              <a:t>• Transactional Outbox Events: Complete audit trail sharing unified correlation_id.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3017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Key Business &amp; Technical Outcomes</a:t>
            </a:r>
          </a:p>
          <a:p>
            <a:pPr>
              <a:lnSpc>
                <a:spcPct val="125000"/>
              </a:lnSpc>
              <a:defRPr sz="1050">
                <a:solidFill>
                  <a:srgbClr val="334155"/>
                </a:solidFill>
              </a:defRPr>
            </a:pPr>
            <a:r>
              <a:t>• 100% Fail-Closed Security: Unknown states, syntax errors, and timeouts default to DENY.</a:t>
            </a:r>
            <a:br/>
            <a:r>
              <a:t>• Enterprise Compliance: HIPAA, GDPR, SOC2, and statutory 7-year audit retention ready.</a:t>
            </a:r>
            <a:br/>
            <a:r>
              <a:t>• Zero Performance Degradation: In-memory caching with sub-millisecond policy checks.</a:t>
            </a:r>
            <a:br/>
            <a:r>
              <a:t>• 82/82 Automated Tests Passing: Zero regressions across all master deliverables.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GUARDIANIQ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5 Architecture: Runtime Enforcement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828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1. Client / Agent Call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</a:defRPr>
            </a:pPr>
            <a:r>
              <a:t>Agent invokes action or tool via /api/v1/enforce/execute. Direct target calls are blocked.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63040"/>
            <a:ext cx="20116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645920"/>
            <a:ext cx="1828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E3A8A"/>
                </a:solidFill>
              </a:defRPr>
            </a:pPr>
            <a:r>
              <a:t>2. Boundary Guards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</a:defRPr>
            </a:pPr>
            <a:r>
              <a:t>Evaluates Autonomy Level, Kill Switch, Tool Limits, Data Classification &amp; Model Provider.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463040"/>
            <a:ext cx="20116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45920"/>
            <a:ext cx="1828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47857"/>
                </a:solidFill>
              </a:defRPr>
            </a:pPr>
            <a:r>
              <a:t>3. Policy Resolver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</a:defRPr>
            </a:pPr>
            <a:r>
              <a:t>Traverses Direct -&gt; Department -&gt; Global hierarchy; evaluates AST rules; combines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63040"/>
            <a:ext cx="20116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645920"/>
            <a:ext cx="1828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45309"/>
                </a:solidFill>
              </a:defRPr>
            </a:pPr>
            <a:r>
              <a:t>4. TOCTOU &amp; AuthZ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</a:defRPr>
            </a:pPr>
            <a:r>
              <a:t>Generates SHA-256 hashes; validates context equality; issues single-use token.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463040"/>
            <a:ext cx="20116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1645920"/>
            <a:ext cx="1828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338CA"/>
                </a:solidFill>
              </a:defRPr>
            </a:pPr>
            <a:r>
              <a:t>5. Target &amp; Outbox</a:t>
            </a:r>
          </a:p>
          <a:p>
            <a:pPr>
              <a:lnSpc>
                <a:spcPct val="120000"/>
              </a:lnSpc>
              <a:defRPr sz="1000">
                <a:solidFill>
                  <a:srgbClr val="334155"/>
                </a:solidFill>
              </a:defRPr>
            </a:pPr>
            <a:r>
              <a:t>Executes target adapter; publishes immutable audit event to transactional outbox.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CORE ARCHITECTURAL GUARANTEES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Fail-Closed: Engine timeouts, network breaks, and AST parsing errors default to DENY.</a:t>
            </a:r>
            <a:br/>
            <a:r>
              <a:t>• Strict Precedence: DENY &gt; REQUIRE_APPROVAL &gt; ESCALATE &gt; ALLOW_WITH_OBLIGATIONS &gt; ALLOW.</a:t>
            </a:r>
            <a:br/>
            <a:r>
              <a:t>• Unified Correlation: Every step in the execution pipeline shares the exact same correlation_id for zero-loss audit forensics.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GUARDIANIQ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Multi-Layer Policy Hierarchy &amp; Rule Evaluator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B82F6"/>
                </a:solidFill>
              </a:defRPr>
            </a:pPr>
            <a:r>
              <a:t>Hierarchical Resolution Order</a:t>
            </a:r>
          </a:p>
          <a:p>
            <a:pPr>
              <a:lnSpc>
                <a:spcPct val="125000"/>
              </a:lnSpc>
              <a:defRPr sz="1050">
                <a:solidFill>
                  <a:srgbClr val="334155"/>
                </a:solidFill>
              </a:defRPr>
            </a:pPr>
            <a:r>
              <a:t>1. DIRECT Bindings (Entity-Specific)</a:t>
            </a:r>
            <a:br/>
            <a:r>
              <a:t>   Bound to specific Agent, Tool, Model, or Data Source (Highest priority).</a:t>
            </a:r>
            <a:br/>
            <a:br/>
            <a:r>
              <a:t>2. DEPARTMENT Bindings</a:t>
            </a:r>
            <a:br/>
            <a:r>
              <a:t>   Inherited by all assets belonging to the department.</a:t>
            </a:r>
            <a:br/>
            <a:br/>
            <a:r>
              <a:t>3. GLOBAL (*) Bindings</a:t>
            </a:r>
            <a:br/>
            <a:r>
              <a:t>   System-wide baseline policies applying to every asset.</a:t>
            </a:r>
            <a:br/>
            <a:br/>
            <a:r>
              <a:t>★ Mandatory Policy Lock: Mandatory parent policies cannot be overridden or relaxed by lower-level bindings.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B82F6"/>
                </a:solidFill>
              </a:defRPr>
            </a:pPr>
            <a:r>
              <a:t>Deterministic AST Rule Evaluator</a:t>
            </a:r>
          </a:p>
          <a:p>
            <a:pPr>
              <a:lnSpc>
                <a:spcPct val="125000"/>
              </a:lnSpc>
              <a:defRPr sz="1050">
                <a:solidFill>
                  <a:srgbClr val="334155"/>
                </a:solidFill>
              </a:defRPr>
            </a:pPr>
            <a:r>
              <a:t>• Safe AST Condition Parsing:</a:t>
            </a:r>
            <a:br/>
            <a:r>
              <a:t>  Expressions like `agent.risk_level == 'CRITICAL' and tool.access_mode == 'WRITE'` are parsed into syntax trees.</a:t>
            </a:r>
            <a:br/>
            <a:br/>
            <a:r>
              <a:t>• Zero Dynamic Execution:</a:t>
            </a:r>
            <a:br/>
            <a:r>
              <a:t>  Python `eval()` and `exec()` are strictly banned.</a:t>
            </a:r>
            <a:br/>
            <a:br/>
            <a:r>
              <a:t>• In-UI Rule Builder &amp; Versioning:</a:t>
            </a:r>
            <a:br/>
            <a:r>
              <a:t>  Supports DRAFT -&gt; ACTIVE -&gt; DEPRECATED -&gt; ARCHIVED lifecycle.</a:t>
            </a:r>
            <a:br/>
            <a:r>
              <a:t>  Active versions are immutable to guarantee historic reproducibility.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GUARDIANIQ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Hard Security Boundaries: Agent, Tool, Data &amp; Model 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2286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Agent Autonomy Guard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• Autonomy Ceilings:</a:t>
            </a:r>
            <a:br/>
            <a:r>
              <a:t>  RECOMMEND_ONLY (no write)</a:t>
            </a:r>
            <a:br/>
            <a:r>
              <a:t>  HUMAN_IN_THE_LOOP (approval)</a:t>
            </a:r>
            <a:br/>
            <a:r>
              <a:t>  AUTONOMOUS_WITH_BOUNDS</a:t>
            </a:r>
            <a:br/>
            <a:br/>
            <a:r>
              <a:t>• Instant Kill Switch:</a:t>
            </a:r>
            <a:br/>
            <a:r>
              <a:t>  One-click administrative toggle instantly blocks all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155448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Tool Permission Guard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• Relationship Validation:</a:t>
            </a:r>
            <a:br/>
            <a:r>
              <a:t>  Verifies explicit USES_TOOL binding.</a:t>
            </a:r>
            <a:br/>
            <a:br/>
            <a:r>
              <a:t>• Capability Tags &amp; Ceilings:</a:t>
            </a:r>
            <a:br/>
            <a:r>
              <a:t>  READ / WRITE / ADMIN modes.</a:t>
            </a:r>
            <a:br/>
            <a:r>
              <a:t>  Parameter thresholds (e.g. max refund amount &lt;= $10,000).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Data Permission Guard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• Classification Hierarchy:</a:t>
            </a:r>
            <a:br/>
            <a:r>
              <a:t>  PUBLIC, INTERNAL, CONFIDENTIAL, RESTRICTED.</a:t>
            </a:r>
            <a:br/>
            <a:br/>
            <a:r>
              <a:t>• Field-Level Transforms:</a:t>
            </a:r>
            <a:br/>
            <a:r>
              <a:t>  Applies dynamic MASK, REDACT, TOKENIZE, or HASH to sensitive fields before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2560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554480"/>
            <a:ext cx="2286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7373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Model Provider Guard</a:t>
            </a:r>
          </a:p>
          <a:p>
            <a:pPr>
              <a:lnSpc>
                <a:spcPct val="125000"/>
              </a:lnSpc>
              <a:defRPr sz="1000">
                <a:solidFill>
                  <a:srgbClr val="334155"/>
                </a:solidFill>
              </a:defRPr>
            </a:pPr>
            <a:r>
              <a:t>• Provider Whitelist:</a:t>
            </a:r>
            <a:br/>
            <a:r>
              <a:t>  Prevents sending proprietary data to unapproved public LLMs.</a:t>
            </a:r>
            <a:br/>
            <a:br/>
            <a:r>
              <a:t>• Fallback Trap:</a:t>
            </a:r>
            <a:br/>
            <a:r>
              <a:t>  Blocks rogue fallback calls to unauthorized fallback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GUARDIANIQ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Security Hardening: Cryptographic TOCTOU &amp; Replay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B82F6"/>
                </a:solidFill>
              </a:defRPr>
            </a:pPr>
            <a:r>
              <a:t>The Time-of-Check to Time-of-Use (TOCTOU) Threat</a:t>
            </a:r>
          </a:p>
          <a:p>
            <a:pPr>
              <a:lnSpc>
                <a:spcPct val="125000"/>
              </a:lnSpc>
              <a:defRPr sz="1050">
                <a:solidFill>
                  <a:srgbClr val="334155"/>
                </a:solidFill>
              </a:defRPr>
            </a:pPr>
            <a:r>
              <a:t>In multi-agent systems, a critical security vulnerability occurs when an action is evaluated or approved at Time T0 (e.g. refund $500), but modified at Time T1 right before execution (e.g. refund $50,000).</a:t>
            </a:r>
            <a:br/>
            <a:br/>
            <a:r>
              <a:t>Without cryptographic request-binding, traditional governance systems are blind to payload tampering between approval and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03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B82F6"/>
                </a:solidFill>
              </a:defRPr>
            </a:pPr>
            <a:r>
              <a:t>GuardianIQ Multi-Hash Authorization Service</a:t>
            </a:r>
          </a:p>
          <a:p>
            <a:pPr>
              <a:lnSpc>
                <a:spcPct val="125000"/>
              </a:lnSpc>
              <a:defRPr sz="1050">
                <a:solidFill>
                  <a:srgbClr val="334155"/>
                </a:solidFill>
              </a:defRPr>
            </a:pPr>
            <a:r>
              <a:t>1. Tri-Hash Request Fingerprint:</a:t>
            </a:r>
            <a:br/>
            <a:r>
              <a:t>   • context_hash = SHA-256(request_payload)</a:t>
            </a:r>
            <a:br/>
            <a:r>
              <a:t>   • relationship_hash = SHA-256(active_graph)</a:t>
            </a:r>
            <a:br/>
            <a:r>
              <a:t>   • policy_hash = SHA-256(active_rules)</a:t>
            </a:r>
            <a:br/>
            <a:br/>
            <a:r>
              <a:t>2. Single-Use Runtime Authorization Token:</a:t>
            </a:r>
            <a:br/>
            <a:r>
              <a:t>   • Issues a cryptographic token bound to the exact Tri-Hash fingerprint with a 60-second TTL.</a:t>
            </a:r>
            <a:br/>
            <a:br/>
            <a:r>
              <a:t>3. Re-Verification &amp; Replay Blocker:</a:t>
            </a:r>
            <a:br/>
            <a:r>
              <a:t>   • Execution engine re-hashes the live payload immediately before target invocation.</a:t>
            </a:r>
            <a:br/>
            <a:r>
              <a:t>   • Any hash mismatch rejects execution. Tokens are marked consumed_at to block replay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GUARDIANIQ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Developer &amp; Operator Experience: Enforcement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Zero Side-Effects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Simulations test complex multi-agent payloads without mutating live state or invoking external target adapters.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Multi-Layer Decision Trace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Visualizes step-by-step resolution across Relationship Guards, Hard Boundaries, and Policy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Obligation Inspections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Inspects required downstream actions like field masking, telemetry tags, or supervisor escalations.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5603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5087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Remediation Guidance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Returns exact AST rule codes and failure reasons so developers can fix permission mismatches fast.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B82F6"/>
                </a:solidFill>
              </a:defRPr>
            </a:pPr>
            <a:r>
              <a:t>LIVE SIMULATION WORKFLOW IN THE DEMO</a:t>
            </a:r>
          </a:p>
          <a:p>
            <a:pPr>
              <a:lnSpc>
                <a:spcPct val="130000"/>
              </a:lnSpc>
              <a:defRPr sz="1000">
                <a:solidFill>
                  <a:srgbClr val="E2E8F0"/>
                </a:solidFill>
              </a:defRPr>
            </a:pPr>
            <a:r>
              <a:t>1. Select Agent &amp; Tool / Data Source from autocomplete dropdowns.</a:t>
            </a:r>
            <a:br/>
            <a:r>
              <a:t>2. Paste JSON action payload (e.g. {"amount": 15000, "currency": "USD", "reason": "customer_satisfaction"}).</a:t>
            </a:r>
            <a:br/>
            <a:r>
              <a:t>3. Click 'Run Enforcement Simulation' -&gt; Sub-50ms execution trace returns matched rules, decision badges, and obligations.</a:t>
            </a:r>
            <a:br/>
            <a:r>
              <a:t>4. Live Decision Breakdown: Green (ALLOW), Yellow (REQUIRE_APPROVAL), Red (DENY) with rule codes and AST condition diffs.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GUARDIANIQ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Verification Evidence: 82/82 Automated Tests Passing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Database &amp; Migrations</a:t>
            </a:r>
          </a:p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</a:defRPr>
            </a:pPr>
            <a:r>
              <a:t>6 Tests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PostgreSQL schema, foreign keys, triggers, Alembic forward &amp; rollback.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Binding Hierarchy</a:t>
            </a:r>
          </a:p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</a:defRPr>
            </a:pPr>
            <a:r>
              <a:t>18 Tests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Direct, Department, Global resolution, precedence order, mandatory 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Boundary &amp; Guards</a:t>
            </a:r>
          </a:p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</a:defRPr>
            </a:pPr>
            <a:r>
              <a:t>19 Tests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Autonomy, Kill Switch, Tool ceilings, Data classification, Masking.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50876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Gateway &amp; TOCTOU</a:t>
            </a:r>
          </a:p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</a:defRPr>
            </a:pPr>
            <a:r>
              <a:t>11 Tests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Exact-request authorization, SHA-256 hashes, single-use token replay.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Approvals &amp; Events</a:t>
            </a:r>
          </a:p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</a:defRPr>
            </a:pPr>
            <a:r>
              <a:t>12 Tests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Workflow approval bridge, exception lookups, Outbox event correlation.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840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Simulator &amp; API</a:t>
            </a:r>
          </a:p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</a:defRPr>
            </a:pPr>
            <a:r>
              <a:t>11 Tests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Non-authoritative simulation, REST validation, OpenAPI contract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Security &amp; Isolation</a:t>
            </a:r>
          </a:p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</a:defRPr>
            </a:pPr>
            <a:r>
              <a:t>5 Tests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Cross-tenant security, agent identity spoofing, secret stripping.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840480"/>
            <a:ext cx="25603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9776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Overall Scorecard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100% Pass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82 Passed, 0 Failed, 0 Regressions across all Phase 5 modules.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Tomorrow's Live Demonstration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Step 1: Policy Management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Navigate to /policies. Review 10-per-page pagination, target filtering, and activate version v1 of High-Risk Agent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Step 2: In-UI Rule Builder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Create version v2 with new rate limit rule. Create new data policy POL-FIN-REFUND-001 with initial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Step 3: Attach &amp; Inspect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Attach policy to Autonomous Refund Agent. Verify Direct -&gt; Dept -&gt; Global hierarchy in Applicable Policies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Step 4: Agent Boundary Tab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Navigate to Agent Detail. Toggle Kill Switch, inspect tool ceilings ($10k limit), and review data field permissions.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Step 5: Live Simulator Run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Run 4 simulation scenarios on /enforcement-simulation: Permitted ($2.5k), High-Value Approval ($15k), Masked PII, and Denied.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D9488"/>
                </a:solidFill>
              </a:defRPr>
            </a:pPr>
            <a:r>
              <a:t>Step 6: Audit Forensics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Inspect live enforcement event trail on Agent Enforcement History and verify unified correlation_id lineage.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★ Phase 5 is Production-Ready, Fail-Closed, Fully Tested, and Certified for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