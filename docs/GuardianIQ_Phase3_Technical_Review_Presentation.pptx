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479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morning. Today we are conducting the Phase 3 technical readiness review for GuardianIQ Release Candidate v3.0.0-rc2. Phase 3 transitions our governance framework from static registry records to an active, relationship-aware governance mesh. Our goal today is to evaluate the technical implementation, UI capabilities, and test results to support our recommendation for production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Phases 0 through 2 established user identity, basic entity registries, and workflow execution. However, assets remained isolated. Phase 3 introduces explicit semantic linking across 6 asset categories, single primary ownership enforcement, and real-time dependency exploration.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Ungoverned AI assets expose our stack to four specific risks: disjointed entity records, unassigned outage accountability, invisible downstream blast radius during model updates, and invalid relationship states slipping into database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technical scope encompasses four core pillars: defining generic relationship schemas, enforcing primary ownership via ResponsibilityService, screening payloads through our 7-rule ValidationEngine, and delivering the React Flow frontend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architecture spans four decoupled tiers. The presentation layer uses React 18 and React Flow. The API router exposes FastAPI endpoints including pre-flight dry-runs. The service tier houses core business logic. The data tier leverages PostgreSQL with composite indexes and in-memory LRU caching.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live Relationship Explorer UI at /relationships. Built on React Flow, it renders directional entity graphs. Operators can adjust the depth slider from 1 to 5 hops to dynamically traverse transitive dependencies across models, tools, and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screenshot illustrates the Responsibility workspace embedded inside entity detail modals. The table displays RACIA role assignments. Clicking '+ Assign Responsibility' allows assigning a new primary owner, which automatically revokes the previous primary owner inside an atomic DB transaction.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When an operator creates or modifies a connection, the ValidationEngine screens the payload. If a rule fails—such as a tenant mismatch or expired date—the modal displays a clear red alert dialog, blocks database write execution, and outputs diagnostic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view shows our Impact Analysis dashboard and Timeline drawer. The Risk Meter evaluates proposed actions, displaying dependent asset counts before execution. The right-hand Timeline drawer provides a full historical log with expandable state diffs.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see these UI components work together: an operator attempts to revoke the GPT-4o Fraud Analyzer. The platform runs a 5-hop graph traversal, detects that the Autonomous Fraud Sentinel relies on this model, displays a High Risk alert, blocks the revocation, and routes an approval request to Primary Owner Elena Rodriguez.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QA audit confirmed system stability. Pytest integration tests passed at 100%, tsc compilation returned zero errors, and all 6 identified defects were resolved. Latency benchmarks demonstrate that Depth-5 queries require 84ms uncached, dropping to 4.1ms when served from the FastAPI LRU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Release Candidate v3.0.0-rc2 has passed all technical verification criteria. We recommend proceeding with production deployment. The deployment sequence follows 4 steps: running Alembic migrations, executing the seed script, subscribing alert handlers, and confirming final clearance.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548640"/>
            <a:ext cx="5303520" cy="365760"/>
          </a:xfrm>
          <a:prstGeom prst="roundRect">
            <a:avLst/>
          </a:prstGeom>
          <a:solidFill>
            <a:srgbClr val="0C4A6E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RELEASE CANDIDATE v3.0.0-rc2 | Production Readiness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GuardianIQ Phase 3 — Enterprise AI Governance</a:t>
            </a:r>
          </a:p>
          <a:p>
            <a:pPr>
              <a:spcBef>
                <a:spcPts val="600"/>
              </a:spcBef>
              <a:defRPr sz="1800">
                <a:solidFill>
                  <a:srgbClr val="22D3EE"/>
                </a:solidFill>
              </a:defRPr>
            </a:pPr>
            <a:r>
              <a:t>Production Readiness Review &amp; Technical Architecture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3328416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D3EE"/>
                </a:solidFill>
              </a:defRPr>
            </a:pPr>
            <a:r>
              <a:t>1. Relationship-Aware AI Governance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Connects AI agents, models, tools, and workflows into an explicit semantic graph mesh.</a:t>
            </a:r>
            <a:br/>
            <a:br/>
            <a:r>
              <a:t>Eliminates isolated entity records and enables directional dependency tracing across all 47 registered assets.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2468880"/>
            <a:ext cx="3328416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08576" y="265176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D3EE"/>
                </a:solidFill>
              </a:defRPr>
            </a:pPr>
            <a:r>
              <a:t>2. Automated Dependency Analysis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Evaluates 1 to 5 hop downstream blast radius before entity updates or revocations occur in production.</a:t>
            </a:r>
            <a:br/>
            <a:br/>
            <a:r>
              <a:t>Intercepts unauthorized changes and prevents silent cascading outages across core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2468880"/>
            <a:ext cx="3328416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02752" y="2651760"/>
            <a:ext cx="29626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D3EE"/>
                </a:solidFill>
              </a:defRPr>
            </a:pPr>
            <a:r>
              <a:t>3. Ownership &amp; Accountability Framework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Guarantees a single active primary owner per entity with automated legacy revocation.</a:t>
            </a:r>
            <a:br/>
            <a:br/>
            <a:r>
              <a:t>Enforces multi-role governance (Owner, Reviewer, Approver, Auditor) inside atomic DB transactions.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EVOLUTION: STATIC REGISTRIES TO GOVERNANCE MESH</a:t>
            </a:r>
          </a:p>
          <a:p>
            <a:pPr>
              <a:spcBef>
                <a:spcPts val="400"/>
              </a:spcBef>
              <a:defRPr sz="1300">
                <a:solidFill>
                  <a:srgbClr val="22D3EE"/>
                </a:solidFill>
                <a:latin typeface="Calibri"/>
              </a:defRPr>
            </a:pPr>
            <a:r>
              <a:t>How Phase 3 resolves the structural gaps of legacy registry tables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75504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4A3B8"/>
                </a:solidFill>
              </a:defRPr>
            </a:pPr>
            <a:r>
              <a:t>PHASES 0 - 2 FOUNDATION (STATIC RECORDS)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Phase 0 Identity: Authentication &amp; tenant RBAC context.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Phase 1 Registry: Isolated entity creation for Agents, Models, Workflows, Tools.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Phase 2 Execution: Scheduled workflow execution &amp; execution logging.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Architectural Gap: Entities existed in silos without semantic relationships or explicit accountability. Modifying a shared tool caused untraced downstream outages.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645920"/>
            <a:ext cx="5175504" cy="4572000"/>
          </a:xfrm>
          <a:prstGeom prst="roundRect">
            <a:avLst/>
          </a:prstGeom>
          <a:solidFill>
            <a:srgbClr val="0C2A3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55664" y="182880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PHASE 3 GOVERNED STACK (RELATIONSHIP MESH)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Semantic Relationship Layer: Explicit ontology linking (USES_TOOL, GOVERNS, EXECUTES) across generic_relationships.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Responsibility Matrix: Guaranteed single active primary owner per entity via object_responsibilities.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Automated Control Engine: 7 mandatory runtime validation rules blocking invalid links &amp; tenant breaches.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Visual Explorer UX: Real-time React Flow visual graph canvas with 1-5 hop dynamic depth controls.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TECHNICAL RISKS OF UNGOVERNED AI REGISTRIES</a:t>
            </a:r>
          </a:p>
          <a:p>
            <a:pPr>
              <a:spcBef>
                <a:spcPts val="400"/>
              </a:spcBef>
              <a:defRPr sz="1300">
                <a:solidFill>
                  <a:srgbClr val="22D3EE"/>
                </a:solidFill>
                <a:latin typeface="Calibri"/>
              </a:defRPr>
            </a:pPr>
            <a:r>
              <a:t>Specific failure modes when AI entities are modified without governance controls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75504" cy="21488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8097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01. DISJOINTED ENTITY SILOS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AI Agents, Models, and Tools existed as static rows without automated lineage. No mechanism verified which model powers an agent or which tool a workflow executes.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645920"/>
            <a:ext cx="5175504" cy="21488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55664" y="1828800"/>
            <a:ext cx="48097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02. ACCOUNTABILITY VACUUM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When an execution failed or policy breach occurred, there was no structured mechanism to resolve who owns, reviews, or approves the target entity.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5175504" cy="21488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48097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03. CASCADING BLAST-RADIUS BLINDNESS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Modifying or revoking a tool or model could silently break downstream workflows because inter-entity dependencies could not be calculated dynamically.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4069080"/>
            <a:ext cx="5175504" cy="214884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4251960"/>
            <a:ext cx="48097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04. UNENFORCEABLE GOVERNANCE RULES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Without a centralized validation engine, invalid configurations (circular dependencies, cross-tenant links, expired dates) slipped into database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PHASE 3 TECHNICAL SCOPE &amp; CORE DELIVERABLES</a:t>
            </a:r>
          </a:p>
          <a:p>
            <a:pPr>
              <a:spcBef>
                <a:spcPts val="400"/>
              </a:spcBef>
              <a:defRPr sz="1300">
                <a:solidFill>
                  <a:srgbClr val="22D3EE"/>
                </a:solidFill>
                <a:latin typeface="Calibri"/>
              </a:defRPr>
            </a:pPr>
            <a:r>
              <a:t>Auditable scope breakdown across data models, services, rules, and UI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PILLAR 01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Semantic Ontology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Establish canonical relationship architecture linking Agents, Models, Workflows, Tools, Data Sources, and Policies via generic_relationships.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83864" y="1645920"/>
            <a:ext cx="24688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66744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PILLAR 02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Ownership Matrix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Enforce explicit object responsibility assignments (Owner, Reviewer, Approver, Auditor) with single primary owner resolution via ResponsibilityService.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645920"/>
            <a:ext cx="24688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19088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PILLAR 03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Governance Controls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Build high-risk rule engine blocking circular ownership, cross-tenant leaks, and temporal bound violations via ValidationEngine (7 Rules).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88552" y="1645920"/>
            <a:ext cx="24688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71432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PILLAR 04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Visual Explorer UX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Deliver React Flow relationship explorer with dynamic depth selectors (1-5 Hops), scope filtering, and audit trail tabs.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DECOUPLED 4-TIER SYSTEM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22D3EE"/>
                </a:solidFill>
                <a:latin typeface="Calibri"/>
              </a:defRPr>
            </a:pPr>
            <a:r>
              <a:t>How the governance engine is tiered across our technical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0284C7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TIER 1: PRESENTATION LAYER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React 18 + TypeScript | React Flow Canvas | Real-time Depth Selector (1-5 Hops) | Scoped Modal Tabs | Audit Trail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16352"/>
            <a:ext cx="10728655" cy="1005840"/>
          </a:xfrm>
          <a:prstGeom prst="roundRect">
            <a:avLst/>
          </a:prstGeom>
          <a:solidFill>
            <a:srgbClr val="0E7490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95351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TIER 2: API ROUTER LAYER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FastAPI Router (/api/registry/relationships/*) | /graph/... Recursive Traversal | /validate/dry-run | /impact-analysis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86784"/>
            <a:ext cx="10728655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123944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TIER 3: SERVICES &amp; ENGINE LAYER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RelationshipService (CRUD &amp; Lifecycle) | ResponsibilityService (Owner Matrix) | ValidationEngine (7 Rules)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57216"/>
            <a:ext cx="10728655" cy="100584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294376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TIER 4: DATA &amp; CACHING LAYER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Consolidated PostgreSQL Schema | UUID Multi-Tenancy (users.id FK) | Composite Indexes | In-Memory Cache Sweep (&lt;4ms)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PRODUCT UI: INTERACTIVE RELATIONSHIP EXPLORER</a:t>
            </a:r>
          </a:p>
          <a:p>
            <a:pPr>
              <a:spcBef>
                <a:spcPts val="400"/>
              </a:spcBef>
              <a:defRPr sz="1300">
                <a:solidFill>
                  <a:srgbClr val="22D3EE"/>
                </a:solidFill>
                <a:latin typeface="Calibri"/>
              </a:defRPr>
            </a:pPr>
            <a:r>
              <a:t>Visual graph exploration and multi-hop dependency tracing at /relationships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6858000" cy="457200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rPr dirty="0"/>
              <a:t>🖥️ REGISTRY RELATIONSHIPS PAGE (/relationships)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rPr dirty="0"/>
              <a:t>[ Top Bar: Category Selector: AI Models | AI Agents | Workflows | Tools ]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rPr dirty="0"/>
              <a:t>[ Depth Control Slider: 1 Hop ──●───────────── 5 Hops ]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endParaRPr dirty="0"/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rPr dirty="0"/>
              <a:t>   ┌───────────────────────────┐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rPr dirty="0"/>
              <a:t>   │ Autonomous Fraud Sentinel │ (Central Agent Node)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rPr dirty="0"/>
              <a:t>   └─────────────┬─────────────┘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rPr dirty="0"/>
              <a:t>                 │  CALLS_MODEL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rPr dirty="0"/>
              <a:t>   ┌─────────────▼─────────────┐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rPr dirty="0"/>
              <a:t>   │  GPT-4o Fraud Analyzer    │ (AI Model Node)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rPr dirty="0"/>
              <a:t>   └─────────────┬─────────────┘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rPr dirty="0"/>
              <a:t>                 │  EXECUTES_WORKFLOW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rPr dirty="0"/>
              <a:t>   ┌─────────────▼─────────────┐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rPr dirty="0"/>
              <a:t>   │   Payment Freeze Flow     │ (Workflow Node)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rPr dirty="0"/>
              <a:t>   └───────────────────────────┘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KEY UI CAPABILITIES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1. React Flow Graph Canvas: Dynamic node graph rendering directional relationship edges with zoom &amp; pan controls.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2. Real-Time Depth Selector: Adjust graph traversal depth dynamically from 1 Hop (Direct) to 5 Hops (Transitive).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3. Asset Category Filtering: Filter entities by AI Models, Agents, Tools, and Workflows.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4. Impact Analysis Tab: Secondary tab toggles visual graph view to blast-radius risk breakdown.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PRODUCT UI: OWNERSHIP &amp; RESPONSIBILITY WORKSPACE</a:t>
            </a:r>
          </a:p>
          <a:p>
            <a:pPr>
              <a:spcBef>
                <a:spcPts val="400"/>
              </a:spcBef>
              <a:defRPr sz="1300">
                <a:solidFill>
                  <a:srgbClr val="22D3EE"/>
                </a:solidFill>
                <a:latin typeface="Calibri"/>
              </a:defRPr>
            </a:pPr>
            <a:r>
              <a:t>Inline RACIA role assignments and single primary owner enforcement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6858000" cy="457200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📋 ENTITY DETAIL MODAL ➔ RESPONSIBILITIES TAB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Entity: Autonomous Fraud Sentinel (Agent ID: AGT-8821)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ROLE        ACTOR ID             PRIMARY    STATUS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OWNER       Elena Rodriguez      [ P1 ]     🟢 ACTIVE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REVIEWER    SecOps Lead          [ -- ]     🟢 ACTIVE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APPROVER    Risk Governance      [ -- ]     🟢 ACTIVE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AUDITOR     Compliance Officer   [ -- ]     🟢 ACTIVE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[ + Assign Responsibility ] ➔ Modal Trigger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└─ Dialog: 'Assigning new Primary Owner automatically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           revokes legacy owner in atomic transaction.'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GOVERNANCE CAPABILITIES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1. Responsibilities Table: Displays Role Type (Owner, Reviewer, Approver, Auditor), Actor ID, Primary Flag, and Status.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2. Primary Owner Badge (P1): Highlights the active single owner (Elena Rodriguez).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3. + Assign Responsibility: Action button opening the owner assignment wizard.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4. Automated Revocation: Atomic transaction revoking legacy primary owner upon new owner assignment.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PRODUCT UI: AUTOMATED VALIDATION CONTROLS</a:t>
            </a:r>
          </a:p>
          <a:p>
            <a:pPr>
              <a:spcBef>
                <a:spcPts val="400"/>
              </a:spcBef>
              <a:defRPr sz="1300">
                <a:solidFill>
                  <a:srgbClr val="22D3EE"/>
                </a:solidFill>
                <a:latin typeface="Calibri"/>
              </a:defRPr>
            </a:pPr>
            <a:r>
              <a:t>Pre-flight payload screening and hard commit block alerts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6858000" cy="45720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⛔ CONNECTION WIZARD ➔ VALIDATION INTERCEPTION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Create Relationship: GPT-4o Model ➔ External Data Ledger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Date Presets: [ +30 Days ] [ +90 Days ] [ +1 Year ] [ Set Now ]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🔴 RULE CHECK ALERT: ValidationEngine Rejected Creation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• Rule 3 (Tenant Match): FAIL - Target entity belongs to Tenant B.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• Rule 5 (Temporal Bounds): PASS - Effective dates valid.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• Rule 7 (Primary Owner): FAIL - Missing target owner sign-off.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Status: ⛔ COMMIT BLOCKED (HTTP 422 Unprocessable Entity)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Diagnostic: Cross-tenant connection prohibited by rule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INTERCEPTION CAPABILITIES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1. Dark Datetime Presets: Quick helper buttons (+30 Days, +90 Days, +1 Year, Set Now) for temporal bounds.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2. Traffic-Light Rule Tags: Severity indicators highlighting Rule 3 (Tenant Mismatch) and Rule 4 (Active Duplicate).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3. Hard Commit Block: ACTION BLOCKED dialog rejecting non-compliant payloads before DB commit.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4. Diagnostic Error Output: Clear diagnostic trace explaining rule violations and corrective 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PRODUCT UI: BLAST RADIUS &amp; AUDIT TIMELINE VIEW</a:t>
            </a:r>
          </a:p>
          <a:p>
            <a:pPr>
              <a:spcBef>
                <a:spcPts val="400"/>
              </a:spcBef>
              <a:defRPr sz="1300">
                <a:solidFill>
                  <a:srgbClr val="22D3EE"/>
                </a:solidFill>
                <a:latin typeface="Calibri"/>
              </a:defRPr>
            </a:pPr>
            <a:r>
              <a:t>Pre-execution risk gauge and historical lifecycle change logs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6858000" cy="4572000"/>
          </a:xfrm>
          <a:prstGeom prst="roundRect">
            <a:avLst/>
          </a:prstGeom>
          <a:solidFill>
            <a:srgbClr val="020617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📊 IMPACT ANALYSIS DASHBOARD &amp; TIMELINE DRAWER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Action Evaluated: REVOKE (Decommission) GPT-4o Model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EXECUTIVE RISK METER: [ HIGH RISK ──●───── ]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Affected Assets: 1 Direct Agent | 3 Transitive Hops | 2 Workflows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endParaRPr/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TIMELINE DRAWER (GET /timeline/ai_model/MOD-4012):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• 2026-07-01 10:15: CREATED by Admin User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• 2026-07-05 14:20: OWNER_ASSIGNED ➔ Elena Rodriguez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• 2026-07-27 09:00: REVOKE_REQUESTED ➔ BLOCKED (Impact Risk)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└─ JSON State Diff: status changed from ACTIVE to REVOCATION_PENDING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45920"/>
            <a:ext cx="3596335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0" y="1828800"/>
            <a:ext cx="32305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D3EE"/>
                </a:solidFill>
              </a:defRPr>
            </a:pPr>
            <a:r>
              <a:t>ANALYSIS &amp; AUDIT CAPABILITIES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1. Executive Risk Meter: High-impact gauge meter displaying risk tier (HIGH RISK | Decommission Impact).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2. Affected Asset Counters: Summary stat counts (1 Direct Agent, 3 Transitive Hops, 2 Workflows).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3. Timeline Drawer: Slide-out panel displaying chronological lifecycle events.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4. State Diff View: Expandable log entries showing before-and-after JSON state diffs for auditability.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TECHNICAL SCENARIO: FRAUD SENTINEL DECOMMISSION</a:t>
            </a:r>
          </a:p>
          <a:p>
            <a:pPr>
              <a:spcBef>
                <a:spcPts val="400"/>
              </a:spcBef>
              <a:defRPr sz="1300">
                <a:solidFill>
                  <a:srgbClr val="22D3EE"/>
                </a:solidFill>
                <a:latin typeface="Calibri"/>
              </a:defRPr>
            </a:pPr>
            <a:r>
              <a:t>Real-time dependency interception during a model revocation request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STEP 01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Action Trigger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Operator initiates REVOKE (Decommission) on GPT-4o Fraud Analyzer model in Registry.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83864" y="1645920"/>
            <a:ext cx="24688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66744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STEP 02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Pre-Flight Traversal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ValidationEngine executes 5-Hop Graph Traversal to map downstream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645920"/>
            <a:ext cx="24688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19088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STEP 03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Risk Evaluation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Impact Dashboard flags HIGH RISK: 1 Direct Dependent Agent (Autonomous Fraud Sentinel) + 3 Transitive Hops.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88552" y="1645920"/>
            <a:ext cx="24688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71432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STEP 04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Interception Gate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Action BLOCKED automatically. Approval request routed to Primary Owner (Elena Rodriguez).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QA VERIFICATION &amp; EMPIRICAL BENCHMARKS</a:t>
            </a:r>
          </a:p>
          <a:p>
            <a:pPr>
              <a:spcBef>
                <a:spcPts val="400"/>
              </a:spcBef>
              <a:defRPr sz="1300">
                <a:solidFill>
                  <a:srgbClr val="22D3EE"/>
                </a:solidFill>
                <a:latin typeface="Calibri"/>
              </a:defRPr>
            </a:pPr>
            <a:r>
              <a:t>Verified latency performance and automated test suite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75504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⚡ EMPIRICAL LATENCY BENCHMARKS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Depth 1 (Direct Lookup):</a:t>
            </a:r>
          </a:p>
          <a:p>
            <a:pPr>
              <a:defRPr sz="1200">
                <a:solidFill>
                  <a:srgbClr val="22D3EE"/>
                </a:solidFill>
              </a:defRPr>
            </a:pPr>
            <a:r>
              <a:t>  ➔ 12 ms Uncached  |  1.2 ms Cached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Depth 3 (Graph Traversal):</a:t>
            </a:r>
          </a:p>
          <a:p>
            <a:pPr>
              <a:defRPr sz="1200">
                <a:solidFill>
                  <a:srgbClr val="22D3EE"/>
                </a:solidFill>
              </a:defRPr>
            </a:pPr>
            <a:r>
              <a:t>  ➔ 38 ms Uncached  |  3.4 ms Cached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Depth 5 (Extended Graph):</a:t>
            </a:r>
          </a:p>
          <a:p>
            <a:pPr>
              <a:defRPr sz="1200">
                <a:solidFill>
                  <a:srgbClr val="22D3EE"/>
                </a:solidFill>
              </a:defRPr>
            </a:pPr>
            <a:r>
              <a:t>  ➔ 84 ms Uncached  |  4.1 ms Cached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Validation Batch Dry-Run:</a:t>
            </a:r>
          </a:p>
          <a:p>
            <a:pPr>
              <a:defRPr sz="1200">
                <a:solidFill>
                  <a:srgbClr val="22D3EE"/>
                </a:solidFill>
              </a:defRPr>
            </a:pPr>
            <a:r>
              <a:t>  ➔ 19 ms Uncached  |  2.1 ms Cached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645920"/>
            <a:ext cx="5175504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55664" y="182880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🟢 QUALITY ASSURANCE AUDIT STATUS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22 / 22 Features Passed: 100% backend &amp; frontend functional pass rate verified by pytest suite.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6 / 6 Defects Remediated: Complete resolution of audit defect tickets DEF-01 through DEF-06.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0 TypeScript Errors: Clean static compilation build verified (tsc --noEmit).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47 Enterprise Assets Audited: Full test coverage across 6 core categories (7 Agents, 11 Models, 6 Tools, 6 Workflows, 4 Data Sources, 13 Depts).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672" y="89154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PRODUCTION READINESS ASSESSMENT &amp; RECOMMENDATION</a:t>
            </a:r>
          </a:p>
          <a:p>
            <a:pPr>
              <a:spcBef>
                <a:spcPts val="400"/>
              </a:spcBef>
              <a:defRPr sz="1300">
                <a:solidFill>
                  <a:srgbClr val="22D3EE"/>
                </a:solidFill>
                <a:latin typeface="Calibri"/>
              </a:defRPr>
            </a:pPr>
            <a:r>
              <a:t>Technical release recommendation and 4-step deployment sequence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10728655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578608"/>
            <a:ext cx="10362895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rPr dirty="0"/>
              <a:t>✓ STEP 01: DATABASE MIGRATIONS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 dirty="0"/>
              <a:t>Apply Alembic schema migration '7e72dc221571' (consolidated schema) and migration '73433bbfa6a5' (composite indexing).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728655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584448"/>
            <a:ext cx="10362895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✓ STEP 02: REFERENCE DATA SEEDING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Execute 'python backend/scripts/seed_relationships.py' post-migration to populate initial enterprise entity topology.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10728655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590288"/>
            <a:ext cx="10362895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✓ STEP 03: ALERT HANDLER SUBSCRIPTIONS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Subscribe monitoring alert listeners to 'RELATIONSHIP_VALIDATION_FAILED' audit events for real-time risk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596128"/>
            <a:ext cx="10362895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✓ STEP 04: QUALITY CLEARANCE SIGN-OFF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Verified status: 22/22 Features Passed | 6/6 Defects Remediated &amp; Verified | 0 Open Bugs Remaining.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2365</Words>
  <Application>Microsoft Office PowerPoint</Application>
  <PresentationFormat>Widescreen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aayush barapatre</cp:lastModifiedBy>
  <cp:revision>2</cp:revision>
  <dcterms:created xsi:type="dcterms:W3CDTF">2013-01-27T09:14:16Z</dcterms:created>
  <dcterms:modified xsi:type="dcterms:W3CDTF">2026-07-27T06:34:07Z</dcterms:modified>
  <cp:category/>
</cp:coreProperties>
</file>